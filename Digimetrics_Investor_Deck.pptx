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4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(US$M)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$0.0&quot;M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0A1A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</c:v>
                </c:pt>
                <c:pt idx="1">
                  <c:v>3</c:v>
                </c:pt>
                <c:pt idx="2">
                  <c:v>10</c:v>
                </c:pt>
              </c:numCache>
            </c:numRef>
          </c:val>
        </c:ser>
        <c:dLbls>
          <c:numFmt formatCode="$0.0&quot;M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0A1A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B8A6"/>
              </a:solidFill>
              <a:ln w="25400" cap="flat">
                <a:solidFill>
                  <a:srgbClr val="F7FAFC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22D3EE"/>
              </a:solidFill>
              <a:ln w="25400" cap="flat">
                <a:solidFill>
                  <a:srgbClr val="F7FAFC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F4B740"/>
              </a:solidFill>
              <a:ln w="25400" cap="flat">
                <a:solidFill>
                  <a:srgbClr val="F7FAFC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1C3A57"/>
              </a:solidFill>
              <a:ln w="25400" cap="flat">
                <a:solidFill>
                  <a:srgbClr val="F7FAFC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94A3B8"/>
              </a:solidFill>
              <a:ln w="25400" cap="flat">
                <a:solidFill>
                  <a:srgbClr val="F7FAFC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Product &amp; Engineering</c:v>
                </c:pt>
                <c:pt idx="1">
                  <c:v>Sales &amp; Marketing</c:v>
                </c:pt>
                <c:pt idx="2">
                  <c:v>Data &amp; Infrastructure</c:v>
                </c:pt>
                <c:pt idx="3">
                  <c:v>G&amp;A / Operations</c:v>
                </c:pt>
                <c:pt idx="4">
                  <c:v>Contingency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40</c:v>
                </c:pt>
                <c:pt idx="1">
                  <c:v>30</c:v>
                </c:pt>
                <c:pt idx="2">
                  <c:v>15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B8A6"/>
              </a:solidFill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On/above</c:v>
                </c:pt>
                <c:pt idx="1">
                  <c:v>Below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67</c:v>
                </c:pt>
                <c:pt idx="1">
                  <c:v>33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4B740"/>
              </a:solidFill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Score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72</c:v>
                </c:pt>
                <c:pt idx="1">
                  <c:v>28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486400" cy="5486400"/>
          </a:xfrm>
          <a:prstGeom prst="ellipse">
            <a:avLst/>
          </a:prstGeom>
          <a:solidFill>
            <a:srgbClr val="0A1A2F">
              <a:alpha val="0"/>
            </a:srgbClr>
          </a:solidFill>
          <a:ln w="12700">
            <a:solidFill>
              <a:srgbClr val="1C3A57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65615" y="-2377440"/>
            <a:ext cx="5486400" cy="5486400"/>
          </a:xfrm>
          <a:prstGeom prst="ellipse">
            <a:avLst/>
          </a:prstGeom>
          <a:solidFill>
            <a:srgbClr val="0A1A2F">
              <a:alpha val="0"/>
            </a:srgbClr>
          </a:solidFill>
          <a:ln w="12700">
            <a:solidFill>
              <a:srgbClr val="1C3A57">
                <a:alpha val="29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65615" y="-2377440"/>
            <a:ext cx="5486400" cy="5486400"/>
          </a:xfrm>
          <a:prstGeom prst="ellipse">
            <a:avLst/>
          </a:prstGeom>
          <a:solidFill>
            <a:srgbClr val="0A1A2F">
              <a:alpha val="0"/>
            </a:srgbClr>
          </a:solidFill>
          <a:ln w="12700">
            <a:solidFill>
              <a:srgbClr val="1C3A57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65615" y="-2377440"/>
            <a:ext cx="5486400" cy="5486400"/>
          </a:xfrm>
          <a:prstGeom prst="ellipse">
            <a:avLst/>
          </a:prstGeom>
          <a:solidFill>
            <a:srgbClr val="0A1A2F">
              <a:alpha val="0"/>
            </a:srgbClr>
          </a:solidFill>
          <a:ln w="12700">
            <a:solidFill>
              <a:srgbClr val="1C3A57">
                <a:alpha val="2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65615" y="-2377440"/>
            <a:ext cx="5486400" cy="5486400"/>
          </a:xfrm>
          <a:prstGeom prst="ellipse">
            <a:avLst/>
          </a:prstGeom>
          <a:solidFill>
            <a:srgbClr val="0A1A2F">
              <a:alpha val="0"/>
            </a:srgbClr>
          </a:solidFill>
          <a:ln w="12700">
            <a:solidFill>
              <a:srgbClr val="1C3A57">
                <a:alpha val="2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65615" y="-2377440"/>
            <a:ext cx="5486400" cy="5486400"/>
          </a:xfrm>
          <a:prstGeom prst="ellipse">
            <a:avLst/>
          </a:prstGeom>
          <a:solidFill>
            <a:srgbClr val="0A1A2F">
              <a:alpha val="0"/>
            </a:srgbClr>
          </a:solidFill>
          <a:ln w="12700">
            <a:solidFill>
              <a:srgbClr val="1C3A57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9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3291840" cy="34379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2240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command centre for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77240" y="27432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digital marketing.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777240" y="41605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proprietary platform replacing an entire stack of SEO, social, paid, GEO,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recruitment, tendering and project-management tools — unified by AI.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77240" y="53492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60+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777240" y="5989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108960" y="53492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3108960" y="5989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domains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40680" y="53492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5440680" y="5989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platform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985455" y="5577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 ·  US$1.75M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071055" y="6035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Investor &amp; stakeholder review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 teams are drowning in disconnected tools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discipline lives in a different subscription. Data is siloed, budgets balloon, and no single tool was built for an AI-first world.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67004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F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651760"/>
            <a:ext cx="777240" cy="77724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8346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65760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sprawl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4160520"/>
            <a:ext cx="212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team juggles 6–10 point tools — SEO, backlinks, social, paid, analytics, ATS, PM — none of which talk to each other.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511296" y="2331720"/>
            <a:ext cx="267004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F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85616" y="2651760"/>
            <a:ext cx="777240" cy="77724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496" y="283464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85616" y="365760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Runaway cost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785616" y="4160520"/>
            <a:ext cx="212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Semrush + Ahrefs + Hootsuite + an ATS + a tender tool + project mgmt exceeds US$2,000/month before headcount.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382512" y="2331720"/>
            <a:ext cx="267004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F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656832" y="2651760"/>
            <a:ext cx="777240" cy="77724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283464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56832" y="365760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Wasted hours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656832" y="4160520"/>
            <a:ext cx="212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copy-paste between dashboards and rebuild reports by hand, losing days of billable time every month.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253728" y="2331720"/>
            <a:ext cx="267004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F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528048" y="2651760"/>
            <a:ext cx="777240" cy="777240"/>
          </a:xfrm>
          <a:prstGeom prst="ellipse">
            <a:avLst/>
          </a:prstGeom>
          <a:solidFill>
            <a:srgbClr val="0A1A2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0928" y="283464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528048" y="365760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blind spot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9528048" y="4160520"/>
            <a:ext cx="212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SEO suites were built for the 10 blue links — not for ChatGPT, Perplexity and AI Overviews that now answer the query.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</a:t>
            </a:r>
            <a:pPr indent="0" marL="0">
              <a:buNone/>
            </a:pPr>
            <a:r>
              <a:rPr lang="en-US" sz="1400" i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insight, blown budgets, and brands losing visibility exactly as search is being rewritten by AI.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DIGIMETRICS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is being rewritten — once a decade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 has crossed from novelty to default behaviour. The tools that win the next decade must be built for it. Incumbents were not.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670048" cy="2423160"/>
          </a:xfrm>
          <a:prstGeom prst="rect">
            <a:avLst/>
          </a:prstGeom>
          <a:solidFill>
            <a:srgbClr val="12283F"/>
          </a:solidFill>
          <a:ln w="12700">
            <a:solidFill>
              <a:srgbClr val="1C3A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468880"/>
            <a:ext cx="2670048" cy="8229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788920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96112" y="3794760"/>
            <a:ext cx="2167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consumers now use AI search intentionally to make buying decisions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511296" y="2468880"/>
            <a:ext cx="2670048" cy="2423160"/>
          </a:xfrm>
          <a:prstGeom prst="rect">
            <a:avLst/>
          </a:prstGeom>
          <a:solidFill>
            <a:srgbClr val="12283F"/>
          </a:solidFill>
          <a:ln w="12700">
            <a:solidFill>
              <a:srgbClr val="1C3A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11296" y="2468880"/>
            <a:ext cx="2670048" cy="8229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3767328" y="2788920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767328" y="3794760"/>
            <a:ext cx="2167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Google searches trigger an AI Overview (Q1 2026), up from ~16%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82512" y="2468880"/>
            <a:ext cx="2670048" cy="2423160"/>
          </a:xfrm>
          <a:prstGeom prst="rect">
            <a:avLst/>
          </a:prstGeom>
          <a:solidFill>
            <a:srgbClr val="12283F"/>
          </a:solidFill>
          <a:ln w="12700">
            <a:solidFill>
              <a:srgbClr val="1C3A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82512" y="2468880"/>
            <a:ext cx="2670048" cy="82296"/>
          </a:xfrm>
          <a:prstGeom prst="rect">
            <a:avLst/>
          </a:prstGeom>
          <a:solidFill>
            <a:srgbClr val="F4B740"/>
          </a:solidFill>
          <a:ln/>
        </p:spPr>
      </p:sp>
      <p:sp>
        <p:nvSpPr>
          <p:cNvPr id="15" name="Text 13"/>
          <p:cNvSpPr/>
          <p:nvPr/>
        </p:nvSpPr>
        <p:spPr>
          <a:xfrm>
            <a:off x="6638544" y="2788920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B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40.6%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638544" y="3794760"/>
            <a:ext cx="2167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of the Generative Engine Optimisation market through 2034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253728" y="2468880"/>
            <a:ext cx="2670048" cy="2423160"/>
          </a:xfrm>
          <a:prstGeom prst="rect">
            <a:avLst/>
          </a:prstGeom>
          <a:solidFill>
            <a:srgbClr val="12283F"/>
          </a:solidFill>
          <a:ln w="12700">
            <a:solidFill>
              <a:srgbClr val="1C3A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53728" y="2468880"/>
            <a:ext cx="2670048" cy="8229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9509760" y="2788920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250–500M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509760" y="3794760"/>
            <a:ext cx="2167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queries handled by ChatGPT Search alone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 SEO teams have already adopted AI — and </a:t>
            </a:r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to invest more. The buying wave is here.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McKinsey, Conductor, Intel Market Research, OpenAI/industry data (2026).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DIGIMETRICS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Digimetrics: the whole marketing stack, in one brain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secure, AI-native platform that consolidates every digital-marketing discipline — and adds capabilities no point tool offers.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66090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49631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throughout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2862072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Strategy, content, audits, tenders and chat — every workflow is AI-assisted, not bolted 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42900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357530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341071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Natively integrated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63040" y="3776472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Ads, GA4, Search Console, Meta Ads and Monday.com feed one source of truth.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34340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4489704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432511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GEO-first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463040" y="4690872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the earliest platforms with a dedicated Generative Engine Optimisation module.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525780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5404104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523951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&amp; browser-based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463040" y="5605272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Google-authenticated single-page app. No installs, role-based access, full audit trails.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7772400" y="2331720"/>
            <a:ext cx="3749040" cy="3931920"/>
          </a:xfrm>
          <a:prstGeom prst="rect">
            <a:avLst/>
          </a:prstGeom>
          <a:solidFill>
            <a:srgbClr val="0A1A2F"/>
          </a:solidFill>
          <a:ln/>
          <a:effectLst>
            <a:outerShdw sx="100000" sy="100000" kx="0" ky="0" algn="bl" rotWithShape="0" blurRad="114300" dist="38100" dir="5400000">
              <a:srgbClr val="0A1A2F">
                <a:alpha val="16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8138160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183880" y="320040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Semrush  ·  Ahrefs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Hootsuite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Editor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applicant tracking system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tender-writing tool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project-management suite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8138160" y="5577840"/>
            <a:ext cx="3017520" cy="0"/>
          </a:xfrm>
          <a:prstGeom prst="line">
            <a:avLst/>
          </a:prstGeom>
          <a:noFill/>
          <a:ln w="12700">
            <a:solidFill>
              <a:srgbClr val="1C3A57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138160" y="5715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US$2,000+/mo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tools — into one.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DIGIMETRICS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whole platform,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marketing domains plus platform administration — 60+ capabilities, one secure login.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670048" cy="1078992"/>
          </a:xfrm>
          <a:prstGeom prst="rect">
            <a:avLst/>
          </a:prstGeom>
          <a:solidFill>
            <a:srgbClr val="12283F"/>
          </a:solidFill>
          <a:ln w="12700">
            <a:solidFill>
              <a:srgbClr val="1C3A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48840"/>
            <a:ext cx="64008" cy="1078992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35000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3312" y="2295144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SEO Engine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353312" y="2660904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Strategy, keywords, audits, rank tracking, schema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511296" y="2148840"/>
            <a:ext cx="2670048" cy="1078992"/>
          </a:xfrm>
          <a:prstGeom prst="rect">
            <a:avLst/>
          </a:prstGeom>
          <a:solidFill>
            <a:srgbClr val="12283F"/>
          </a:solidFill>
          <a:ln w="12700">
            <a:solidFill>
              <a:srgbClr val="1C3A5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11296" y="2148840"/>
            <a:ext cx="64008" cy="1078992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2350008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24528" y="2295144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(SMM)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224528" y="2660904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Pillars, captions, response generation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382512" y="2148840"/>
            <a:ext cx="2670048" cy="1078992"/>
          </a:xfrm>
          <a:prstGeom prst="rect">
            <a:avLst/>
          </a:prstGeom>
          <a:solidFill>
            <a:srgbClr val="12283F"/>
          </a:solidFill>
          <a:ln w="12700">
            <a:solidFill>
              <a:srgbClr val="1C3A5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82512" y="2148840"/>
            <a:ext cx="64008" cy="1078992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350008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95744" y="2295144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7095744" y="2660904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llms.txt, AI discovery audit, mentions tracking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9253728" y="2148840"/>
            <a:ext cx="2670048" cy="1078992"/>
          </a:xfrm>
          <a:prstGeom prst="rect">
            <a:avLst/>
          </a:prstGeom>
          <a:solidFill>
            <a:srgbClr val="12283F"/>
          </a:solidFill>
          <a:ln w="12700">
            <a:solidFill>
              <a:srgbClr val="1C3A5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253728" y="2148840"/>
            <a:ext cx="64008" cy="1078992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4896" y="2350008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966960" y="2295144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/ Paid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966960" y="2660904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generation, Google &amp; Meta Ads, media plans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640080" y="3410712"/>
            <a:ext cx="2670048" cy="1078992"/>
          </a:xfrm>
          <a:prstGeom prst="rect">
            <a:avLst/>
          </a:prstGeom>
          <a:solidFill>
            <a:srgbClr val="12283F"/>
          </a:solidFill>
          <a:ln w="12700">
            <a:solidFill>
              <a:srgbClr val="1C3A57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40080" y="3410712"/>
            <a:ext cx="64008" cy="1078992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3611880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53312" y="3557016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&amp; Audience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1353312" y="3922776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ID, personas, content checks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3511296" y="3410712"/>
            <a:ext cx="2670048" cy="1078992"/>
          </a:xfrm>
          <a:prstGeom prst="rect">
            <a:avLst/>
          </a:prstGeom>
          <a:solidFill>
            <a:srgbClr val="12283F"/>
          </a:solidFill>
          <a:ln w="12700">
            <a:solidFill>
              <a:srgbClr val="1C3A57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511296" y="3410712"/>
            <a:ext cx="64008" cy="1078992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2464" y="3611880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224528" y="3557016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Cockpit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4224528" y="3922776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Cross-channel dashboards, PDF reports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6382512" y="3410712"/>
            <a:ext cx="2670048" cy="1078992"/>
          </a:xfrm>
          <a:prstGeom prst="rect">
            <a:avLst/>
          </a:prstGeom>
          <a:solidFill>
            <a:srgbClr val="12283F"/>
          </a:solidFill>
          <a:ln w="12700">
            <a:solidFill>
              <a:srgbClr val="1C3A57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6382512" y="3410712"/>
            <a:ext cx="64008" cy="1078992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3611880"/>
            <a:ext cx="384048" cy="38404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7095744" y="3557016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Backlinks Manager</a:t>
            </a:r>
            <a:endParaRPr lang="en-US" sz="1350" dirty="0"/>
          </a:p>
        </p:txBody>
      </p:sp>
      <p:sp>
        <p:nvSpPr>
          <p:cNvPr id="39" name="Text 30"/>
          <p:cNvSpPr/>
          <p:nvPr/>
        </p:nvSpPr>
        <p:spPr>
          <a:xfrm>
            <a:off x="7095744" y="3922776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Campaigns, vendors, bulk validation, costing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9253728" y="3410712"/>
            <a:ext cx="2670048" cy="1078992"/>
          </a:xfrm>
          <a:prstGeom prst="rect">
            <a:avLst/>
          </a:prstGeom>
          <a:solidFill>
            <a:srgbClr val="12283F"/>
          </a:solidFill>
          <a:ln w="12700">
            <a:solidFill>
              <a:srgbClr val="1C3A57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9253728" y="3410712"/>
            <a:ext cx="64008" cy="1078992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54896" y="3611880"/>
            <a:ext cx="384048" cy="38404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966960" y="3557016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Recruitment</a:t>
            </a:r>
            <a:endParaRPr lang="en-US" sz="1350" dirty="0"/>
          </a:p>
        </p:txBody>
      </p:sp>
      <p:sp>
        <p:nvSpPr>
          <p:cNvPr id="44" name="Text 34"/>
          <p:cNvSpPr/>
          <p:nvPr/>
        </p:nvSpPr>
        <p:spPr>
          <a:xfrm>
            <a:off x="9966960" y="3922776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screening, scoring, candidate repository</a:t>
            </a:r>
            <a:endParaRPr lang="en-US" sz="950" dirty="0"/>
          </a:p>
        </p:txBody>
      </p:sp>
      <p:sp>
        <p:nvSpPr>
          <p:cNvPr id="45" name="Shape 35"/>
          <p:cNvSpPr/>
          <p:nvPr/>
        </p:nvSpPr>
        <p:spPr>
          <a:xfrm>
            <a:off x="640080" y="4672584"/>
            <a:ext cx="2670048" cy="1078992"/>
          </a:xfrm>
          <a:prstGeom prst="rect">
            <a:avLst/>
          </a:prstGeom>
          <a:solidFill>
            <a:srgbClr val="12283F"/>
          </a:solidFill>
          <a:ln w="12700">
            <a:solidFill>
              <a:srgbClr val="1C3A57"/>
            </a:solidFill>
            <a:prstDash val="solid"/>
          </a:ln>
        </p:spPr>
      </p:sp>
      <p:sp>
        <p:nvSpPr>
          <p:cNvPr id="46" name="Shape 36"/>
          <p:cNvSpPr/>
          <p:nvPr/>
        </p:nvSpPr>
        <p:spPr>
          <a:xfrm>
            <a:off x="640080" y="4672584"/>
            <a:ext cx="64008" cy="1078992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248" y="4873752"/>
            <a:ext cx="384048" cy="384048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1353312" y="481888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TenderAI</a:t>
            </a:r>
            <a:endParaRPr lang="en-US" sz="1350" dirty="0"/>
          </a:p>
        </p:txBody>
      </p:sp>
      <p:sp>
        <p:nvSpPr>
          <p:cNvPr id="49" name="Text 38"/>
          <p:cNvSpPr/>
          <p:nvPr/>
        </p:nvSpPr>
        <p:spPr>
          <a:xfrm>
            <a:off x="1353312" y="5184648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co-pilot, proof bank, pricing &amp; costing</a:t>
            </a:r>
            <a:endParaRPr lang="en-US" sz="950" dirty="0"/>
          </a:p>
        </p:txBody>
      </p:sp>
      <p:sp>
        <p:nvSpPr>
          <p:cNvPr id="50" name="Shape 39"/>
          <p:cNvSpPr/>
          <p:nvPr/>
        </p:nvSpPr>
        <p:spPr>
          <a:xfrm>
            <a:off x="3511296" y="4672584"/>
            <a:ext cx="2670048" cy="1078992"/>
          </a:xfrm>
          <a:prstGeom prst="rect">
            <a:avLst/>
          </a:prstGeom>
          <a:solidFill>
            <a:srgbClr val="12283F"/>
          </a:solidFill>
          <a:ln w="12700">
            <a:solidFill>
              <a:srgbClr val="1C3A57"/>
            </a:solidFill>
            <a:prstDash val="solid"/>
          </a:ln>
        </p:spPr>
      </p:sp>
      <p:sp>
        <p:nvSpPr>
          <p:cNvPr id="51" name="Shape 40"/>
          <p:cNvSpPr/>
          <p:nvPr/>
        </p:nvSpPr>
        <p:spPr>
          <a:xfrm>
            <a:off x="3511296" y="4672584"/>
            <a:ext cx="64008" cy="1078992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2464" y="4873752"/>
            <a:ext cx="384048" cy="384048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4224528" y="481888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Mgmt</a:t>
            </a:r>
            <a:endParaRPr lang="en-US" sz="1350" dirty="0"/>
          </a:p>
        </p:txBody>
      </p:sp>
      <p:sp>
        <p:nvSpPr>
          <p:cNvPr id="54" name="Text 42"/>
          <p:cNvSpPr/>
          <p:nvPr/>
        </p:nvSpPr>
        <p:spPr>
          <a:xfrm>
            <a:off x="4224528" y="5184648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clone, board auditor, automations</a:t>
            </a:r>
            <a:endParaRPr lang="en-US" sz="950" dirty="0"/>
          </a:p>
        </p:txBody>
      </p:sp>
      <p:sp>
        <p:nvSpPr>
          <p:cNvPr id="55" name="Shape 43"/>
          <p:cNvSpPr/>
          <p:nvPr/>
        </p:nvSpPr>
        <p:spPr>
          <a:xfrm>
            <a:off x="6382512" y="4672584"/>
            <a:ext cx="2670048" cy="1078992"/>
          </a:xfrm>
          <a:prstGeom prst="rect">
            <a:avLst/>
          </a:prstGeom>
          <a:solidFill>
            <a:srgbClr val="12283F"/>
          </a:solidFill>
          <a:ln w="12700">
            <a:solidFill>
              <a:srgbClr val="1C3A57"/>
            </a:solidFill>
            <a:prstDash val="solid"/>
          </a:ln>
        </p:spPr>
      </p:sp>
      <p:sp>
        <p:nvSpPr>
          <p:cNvPr id="56" name="Shape 44"/>
          <p:cNvSpPr/>
          <p:nvPr/>
        </p:nvSpPr>
        <p:spPr>
          <a:xfrm>
            <a:off x="6382512" y="4672584"/>
            <a:ext cx="64008" cy="1078992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5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80" y="4873752"/>
            <a:ext cx="384048" cy="384048"/>
          </a:xfrm>
          <a:prstGeom prst="rect">
            <a:avLst/>
          </a:prstGeom>
        </p:spPr>
      </p:pic>
      <p:sp>
        <p:nvSpPr>
          <p:cNvPr id="58" name="Text 45"/>
          <p:cNvSpPr/>
          <p:nvPr/>
        </p:nvSpPr>
        <p:spPr>
          <a:xfrm>
            <a:off x="7095744" y="481888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Tools</a:t>
            </a:r>
            <a:endParaRPr lang="en-US" sz="1350" dirty="0"/>
          </a:p>
        </p:txBody>
      </p:sp>
      <p:sp>
        <p:nvSpPr>
          <p:cNvPr id="59" name="Text 46"/>
          <p:cNvSpPr/>
          <p:nvPr/>
        </p:nvSpPr>
        <p:spPr>
          <a:xfrm>
            <a:off x="7095744" y="5184648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Chatbot, video analyzer, UAT, scrapers</a:t>
            </a:r>
            <a:endParaRPr lang="en-US" sz="950" dirty="0"/>
          </a:p>
        </p:txBody>
      </p:sp>
      <p:sp>
        <p:nvSpPr>
          <p:cNvPr id="60" name="Shape 47"/>
          <p:cNvSpPr/>
          <p:nvPr/>
        </p:nvSpPr>
        <p:spPr>
          <a:xfrm>
            <a:off x="9253728" y="4672584"/>
            <a:ext cx="2670048" cy="1078992"/>
          </a:xfrm>
          <a:prstGeom prst="rect">
            <a:avLst/>
          </a:prstGeom>
          <a:solidFill>
            <a:srgbClr val="12283F"/>
          </a:solidFill>
          <a:ln w="12700">
            <a:solidFill>
              <a:srgbClr val="1C3A57"/>
            </a:solidFill>
            <a:prstDash val="solid"/>
          </a:ln>
        </p:spPr>
      </p:sp>
      <p:sp>
        <p:nvSpPr>
          <p:cNvPr id="61" name="Shape 48"/>
          <p:cNvSpPr/>
          <p:nvPr/>
        </p:nvSpPr>
        <p:spPr>
          <a:xfrm>
            <a:off x="9253728" y="4672584"/>
            <a:ext cx="64008" cy="1078992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6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54896" y="4873752"/>
            <a:ext cx="384048" cy="384048"/>
          </a:xfrm>
          <a:prstGeom prst="rect">
            <a:avLst/>
          </a:prstGeom>
        </p:spPr>
      </p:pic>
      <p:sp>
        <p:nvSpPr>
          <p:cNvPr id="63" name="Text 49"/>
          <p:cNvSpPr/>
          <p:nvPr/>
        </p:nvSpPr>
        <p:spPr>
          <a:xfrm>
            <a:off x="9966960" y="481888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&amp; Security</a:t>
            </a:r>
            <a:endParaRPr lang="en-US" sz="1350" dirty="0"/>
          </a:p>
        </p:txBody>
      </p:sp>
      <p:sp>
        <p:nvSpPr>
          <p:cNvPr id="64" name="Text 50"/>
          <p:cNvSpPr/>
          <p:nvPr/>
        </p:nvSpPr>
        <p:spPr>
          <a:xfrm>
            <a:off x="9966960" y="5184648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API keys, audit logs, SSO</a:t>
            </a:r>
            <a:endParaRPr lang="en-US" sz="950" dirty="0"/>
          </a:p>
        </p:txBody>
      </p:sp>
      <p:sp>
        <p:nvSpPr>
          <p:cNvPr id="65" name="Text 51"/>
          <p:cNvSpPr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66" name="Text 52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DIGIMETRICS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Digimetrics goes where rivals can't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406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F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103120"/>
            <a:ext cx="658368" cy="658368"/>
          </a:xfrm>
          <a:prstGeom prst="ellipse">
            <a:avLst/>
          </a:prstGeom>
          <a:solidFill>
            <a:srgbClr val="0A1A2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25856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116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GEO suite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37360" y="235915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llms.txt generator, AI Discovery Audit with a GEO score, AI Mentions Tracker (share-of-AI-voice) and GEO-tuned schema — a discipline most incumbents have barely started.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309360" y="1828800"/>
            <a:ext cx="54406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F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65392" y="2103120"/>
            <a:ext cx="658368" cy="658368"/>
          </a:xfrm>
          <a:prstGeom prst="ellipse">
            <a:avLst/>
          </a:prstGeom>
          <a:solidFill>
            <a:srgbClr val="0A1A2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25856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0116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TenderAI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406640" y="235915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co-pilot for RFPs and proposals: proof bank, competitor analysis, market research, pricing &amp; manpower costing, version control — an entire BD tool inside the platform.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" y="3236976"/>
            <a:ext cx="54406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F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6112" y="3511296"/>
            <a:ext cx="658368" cy="658368"/>
          </a:xfrm>
          <a:prstGeom prst="ellipse">
            <a:avLst/>
          </a:prstGeom>
          <a:solidFill>
            <a:srgbClr val="0A1A2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66674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341985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Recruitment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737360" y="376732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CV screening (PDF/DOCX/ZIP) with weighted scoring cuts shortlisting from hours to minutes, with a searchable candidate repository and audit log.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309360" y="3236976"/>
            <a:ext cx="54406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F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65392" y="3511296"/>
            <a:ext cx="658368" cy="658368"/>
          </a:xfrm>
          <a:prstGeom prst="ellipse">
            <a:avLst/>
          </a:prstGeom>
          <a:solidFill>
            <a:srgbClr val="0A1A2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366674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341985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White-label Client Chatbot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06640" y="376732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Embeddable, trainable AI chatbot with custom knowledge bases, quick prompts and Google Workspace integration — turns the platform into a client-facing asset.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0080" y="4645152"/>
            <a:ext cx="54406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F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96112" y="4919472"/>
            <a:ext cx="658368" cy="658368"/>
          </a:xfrm>
          <a:prstGeom prst="ellipse">
            <a:avLst/>
          </a:prstGeom>
          <a:solidFill>
            <a:srgbClr val="0A1A2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5074920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737360" y="48280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Self-hosted PM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737360" y="5175504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Monday.com-style board engine plus a live board auditor and overdue-campaign crawler with an embedded AI analyst.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309360" y="4645152"/>
            <a:ext cx="54406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F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565392" y="4919472"/>
            <a:ext cx="658368" cy="658368"/>
          </a:xfrm>
          <a:prstGeom prst="ellipse">
            <a:avLst/>
          </a:prstGeom>
          <a:solidFill>
            <a:srgbClr val="0A1A2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5074920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406640" y="48280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Unified integrations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406640" y="5175504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Ads, GA4, Search Console, Meta Ads and Monday.com in one cockpit — paid, earned and owned in a single attribution view.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DIGIMETRICS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EDGE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 vs. a shelf of point tools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14300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691640"/>
                <a:gridCol w="1417320"/>
                <a:gridCol w="1325880"/>
                <a:gridCol w="1463040"/>
                <a:gridCol w="187452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Digimetrics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Semrush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Ahrefs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Hootsuite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ATS / Tender 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SEO &amp; rank tracking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567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567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Generative Engine Optimisation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4B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4B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567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567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content + paid (SMM/SEM)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4B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567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567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recruitment / CV screening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567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567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567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TenderAI proposal writing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567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567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567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mgmt + board auditing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567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567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567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567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White-label client chatbot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567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567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567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567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unified data cockpit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4B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4B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4B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567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Full   </a:t>
            </a:r>
            <a:pPr indent="0" marL="0">
              <a:buNone/>
            </a:pPr>
            <a:r>
              <a:rPr lang="en-US" sz="11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Partial   </a:t>
            </a:r>
            <a:pPr indent="0" marL="0">
              <a:buNone/>
            </a:pPr>
            <a:r>
              <a:rPr lang="en-US" sz="1100" dirty="0">
                <a:solidFill>
                  <a:srgbClr val="56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 offered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DIGIMETRICS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consolidation maths is brutal — for incumbents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mid-sized team's tool stack, priced at 2026 list rates, versus a single Digimetrics subscription.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212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F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Typical point-tool stack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3017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Semrush Guru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434840" y="3017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$250/mo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0120" y="3383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Ahrefs Standard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434840" y="3383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$249/mo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0120" y="3749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Hootsuite Team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34840" y="3749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$249/mo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60120" y="4114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tracking system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434840" y="4114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$300/mo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60120" y="4480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/ proposal tool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434840" y="4480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$200/mo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60120" y="4846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suite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434840" y="4846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$150/mo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60120" y="5257800"/>
            <a:ext cx="4572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5349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03320" y="5303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973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$1,398/mo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355080" y="2240280"/>
            <a:ext cx="5166360" cy="3566160"/>
          </a:xfrm>
          <a:prstGeom prst="rect">
            <a:avLst/>
          </a:prstGeom>
          <a:solidFill>
            <a:srgbClr val="0A1A2F"/>
          </a:solidFill>
          <a:ln/>
          <a:effectLst>
            <a:outerShdw sx="100000" sy="100000" kx="0" ky="0" algn="bl" rotWithShape="0" blurRad="114300" dist="38100" dir="5400000">
              <a:srgbClr val="0A1A2F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55080" y="2240280"/>
            <a:ext cx="5166360" cy="91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4" name="Text 22"/>
          <p:cNvSpPr/>
          <p:nvPr/>
        </p:nvSpPr>
        <p:spPr>
          <a:xfrm>
            <a:off x="6720840" y="24688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Digimetrics — Pro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720840" y="297180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$349</a:t>
            </a:r>
            <a:endParaRPr lang="en-US" sz="6000" dirty="0"/>
          </a:p>
        </p:txBody>
      </p:sp>
      <p:sp>
        <p:nvSpPr>
          <p:cNvPr id="26" name="Text 24"/>
          <p:cNvSpPr/>
          <p:nvPr/>
        </p:nvSpPr>
        <p:spPr>
          <a:xfrm>
            <a:off x="6720840" y="40233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— all 11 domains, all 60+ capabilities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20840" y="466344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75% lower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— and the data finally lives in one place.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008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prices as of 2026 (annual-billing tiers). Stack composition illustrative of a mid-sized marketing team.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DIGIMETRICS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large, fast-growing, AI-accelerated market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7280" y="1920240"/>
            <a:ext cx="4297680" cy="4297680"/>
          </a:xfrm>
          <a:prstGeom prst="ellipse">
            <a:avLst/>
          </a:prstGeom>
          <a:solidFill>
            <a:srgbClr val="12283F"/>
          </a:solidFill>
          <a:ln w="19050">
            <a:solidFill>
              <a:srgbClr val="1C3A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2606040"/>
            <a:ext cx="2926080" cy="2926080"/>
          </a:xfrm>
          <a:prstGeom prst="ellipse">
            <a:avLst/>
          </a:prstGeom>
          <a:solidFill>
            <a:srgbClr val="1C3A57"/>
          </a:solidFill>
          <a:ln w="19050">
            <a:solidFill>
              <a:srgbClr val="1C3A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0" y="3291840"/>
            <a:ext cx="1554480" cy="1554480"/>
          </a:xfrm>
          <a:prstGeom prst="ellipse">
            <a:avLst/>
          </a:prstGeom>
          <a:solidFill>
            <a:srgbClr val="14B8A6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3566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68880" y="39044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$120M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675120" y="2240280"/>
            <a:ext cx="146304" cy="9144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Text 8"/>
          <p:cNvSpPr/>
          <p:nvPr/>
        </p:nvSpPr>
        <p:spPr>
          <a:xfrm>
            <a:off x="6995160" y="22402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   </a:t>
            </a:r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$168B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95160" y="2697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Digital-marketing software by 2030 (12.9% CAGR)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75120" y="3300984"/>
            <a:ext cx="146304" cy="9144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6995160" y="330098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   </a:t>
            </a:r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$155B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95160" y="375818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software market by 2030 (13.5% CAGR)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675120" y="4361688"/>
            <a:ext cx="146304" cy="9144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6995160" y="43616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   </a:t>
            </a:r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$120M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95160" y="48188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Beachhead: AI-native consolidation, yrs 1–5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75120" y="5532120"/>
            <a:ext cx="4846320" cy="749808"/>
          </a:xfrm>
          <a:prstGeom prst="rect">
            <a:avLst/>
          </a:prstGeom>
          <a:solidFill>
            <a:srgbClr val="12283F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557784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GEO tailwind: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GEO services market grows at </a:t>
            </a:r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40.6% CAGR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category incumbents are late to.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23360" y="6400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Mordor Intelligence, Grand View Research, Intel Market Research (2026).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DIGIMETRICS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Self-serve SaaS, sold globally and English-first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subscriptions with usage-based AI credits. Land with self-serve, expand into teams and white-label.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67004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F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86000"/>
            <a:ext cx="2670048" cy="8229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6032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$49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/mo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914400" y="388620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marketers &amp; SMBs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429768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SEO, GEO basics, 1 project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511296" y="2286000"/>
            <a:ext cx="267004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F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11296" y="2286000"/>
            <a:ext cx="2670048" cy="8229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3" name="Text 11"/>
          <p:cNvSpPr/>
          <p:nvPr/>
        </p:nvSpPr>
        <p:spPr>
          <a:xfrm>
            <a:off x="3785616" y="256032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85616" y="3063240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$149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/mo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785616" y="388620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in-house teams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785616" y="429768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SEO+GEO+SMM, 5 projects, integrations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82512" y="2286000"/>
            <a:ext cx="2670048" cy="3108960"/>
          </a:xfrm>
          <a:prstGeom prst="rect">
            <a:avLst/>
          </a:prstGeom>
          <a:solidFill>
            <a:srgbClr val="0A1A2F"/>
          </a:solidFill>
          <a:ln w="12700">
            <a:solidFill>
              <a:srgbClr val="0A1A2F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F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82512" y="2286000"/>
            <a:ext cx="2670048" cy="8229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0" y="2487168"/>
            <a:ext cx="1645920" cy="274320"/>
          </a:xfrm>
          <a:prstGeom prst="rect">
            <a:avLst/>
          </a:prstGeom>
          <a:solidFill>
            <a:srgbClr val="F4B7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56832" y="256032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56832" y="3063240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$349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/mo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656832" y="388620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users &amp; consultants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656832" y="429768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 domains, 60+ tools, reports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253728" y="2286000"/>
            <a:ext cx="267004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F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253728" y="2286000"/>
            <a:ext cx="2670048" cy="8229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6" name="Text 24"/>
          <p:cNvSpPr/>
          <p:nvPr/>
        </p:nvSpPr>
        <p:spPr>
          <a:xfrm>
            <a:off x="9528048" y="256032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Agency / WL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528048" y="3063240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$899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/mo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9528048" y="388620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 &amp; resellers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528048" y="429768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Multi-client, white-label chatbot, API, SSO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ARPU ~US$200/mo  ·  </a:t>
            </a:r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gross margin  · 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land-and-expand via AI-credit usage and seat growth.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DIGIMETRICS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Product-led growth, compounding on AI search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611880" cy="2468880"/>
          </a:xfrm>
          <a:prstGeom prst="rect">
            <a:avLst/>
          </a:prstGeom>
          <a:solidFill>
            <a:srgbClr val="12283F"/>
          </a:solidFill>
          <a:ln w="12700">
            <a:solidFill>
              <a:srgbClr val="1C3A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423160"/>
            <a:ext cx="777240" cy="77724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6060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3832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· Land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37947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GEO/AI-readiness audit as the hook. Self-serve signup, content-led SEO, and a free tool suite drive low-CAC inbound.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80560" y="2103120"/>
            <a:ext cx="3611880" cy="2468880"/>
          </a:xfrm>
          <a:prstGeom prst="rect">
            <a:avLst/>
          </a:prstGeom>
          <a:solidFill>
            <a:srgbClr val="12283F"/>
          </a:solidFill>
          <a:ln w="12700">
            <a:solidFill>
              <a:srgbClr val="1C3A5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00600" y="2423160"/>
            <a:ext cx="777240" cy="77724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6060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00600" y="33832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· Expand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800600" y="37947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free audits to paid. Expand seats and AI credits within accounts; layer in recruitment, tender and PM modules.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321040" y="2103120"/>
            <a:ext cx="3611880" cy="2468880"/>
          </a:xfrm>
          <a:prstGeom prst="rect">
            <a:avLst/>
          </a:prstGeom>
          <a:solidFill>
            <a:srgbClr val="12283F"/>
          </a:solidFill>
          <a:ln w="12700">
            <a:solidFill>
              <a:srgbClr val="1C3A5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41080" y="2423160"/>
            <a:ext cx="777240" cy="77724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260604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41080" y="33832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 · Scale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641080" y="37947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/ reseller channel for agencies, marketplace integrations, and partner-led expansion across English-first markets.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892040"/>
            <a:ext cx="10908792" cy="1234440"/>
          </a:xfrm>
          <a:prstGeom prst="rect">
            <a:avLst/>
          </a:prstGeom>
          <a:solidFill>
            <a:srgbClr val="12283F"/>
          </a:solidFill>
          <a:ln w="12700">
            <a:solidFill>
              <a:srgbClr val="1C3A57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68680" y="5029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channels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68680" y="5440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Content &amp; programmatic SEO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026664" y="5440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Free AI-audit lead magnet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184648" y="5440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Product-led free tools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7342632" y="5440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Agency white-label channel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9500616" y="5440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Marketplace &amp; API partners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DIGIMETRICS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to ~US$10M ARR in three years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62179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178040" y="1874520"/>
            <a:ext cx="4389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F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178040" y="1874520"/>
            <a:ext cx="91440" cy="8686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4"/>
          <p:cNvSpPr/>
          <p:nvPr/>
        </p:nvSpPr>
        <p:spPr>
          <a:xfrm>
            <a:off x="7452360" y="2011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 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869680" y="2011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customers · $0.6M ARR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178040" y="2880360"/>
            <a:ext cx="4389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F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178040" y="2880360"/>
            <a:ext cx="91440" cy="8686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8"/>
          <p:cNvSpPr/>
          <p:nvPr/>
        </p:nvSpPr>
        <p:spPr>
          <a:xfrm>
            <a:off x="7452360" y="30175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 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869680" y="3017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 customers · $3.0M ARR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178040" y="3886200"/>
            <a:ext cx="4389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F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178040" y="3886200"/>
            <a:ext cx="91440" cy="8686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2"/>
          <p:cNvSpPr/>
          <p:nvPr/>
        </p:nvSpPr>
        <p:spPr>
          <a:xfrm>
            <a:off x="7452360" y="4023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 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869680" y="4023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 customers · $10M ARR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178040" y="4983480"/>
            <a:ext cx="4389120" cy="1280160"/>
          </a:xfrm>
          <a:prstGeom prst="rect">
            <a:avLst/>
          </a:prstGeom>
          <a:solidFill>
            <a:srgbClr val="0A1A2F"/>
          </a:solidFill>
          <a:ln/>
          <a:effectLst>
            <a:outerShdw sx="100000" sy="100000" kx="0" ky="0" algn="bl" rotWithShape="0" blurRad="114300" dist="38100" dir="5400000">
              <a:srgbClr val="0A1A2F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315200" y="51663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$2.4K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315200" y="5669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 / yr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732520" y="51663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~7:1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732520" y="5669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: CAC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149840" y="51663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&lt;6 mo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10149840" y="5669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payback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48640" y="6080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Projections assume 85% gross margin and disciplined, product-led acquisition. Illustrative model for planning.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DIGIMETRICS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COSTING &amp; MANPOWER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lean, AI-leveraged team of 11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and run-rate at steady state (≈ month 18). Annual figures in US$.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644652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371600"/>
                <a:gridCol w="16916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A1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A1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A1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Loaded cost / yr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Founders (CEO + CTO)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$160K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(full-stack + AI)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$285K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&amp; Design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&amp; Marketing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$140K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&amp; Customer Success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$130K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 &amp; Finance (fractional)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payroll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$835K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452360" y="214884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operating costs (non-payroll)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52360" y="26060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 APIs + cloud infra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0378440" y="26060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$120K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452360" y="3008376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licensing (SERP/backlink APIs)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0378440" y="3008376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$90K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452360" y="34107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acquisition &amp; marketing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0378440" y="341071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$180K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452360" y="381304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tooling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0378440" y="381304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$30K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452360" y="4215384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admin &amp; misc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0378440" y="4215384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452360" y="4636008"/>
            <a:ext cx="4069080" cy="0"/>
          </a:xfrm>
          <a:prstGeom prst="line">
            <a:avLst/>
          </a:prstGeom>
          <a:noFill/>
          <a:ln w="12700">
            <a:solidFill>
              <a:srgbClr val="1C3A5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52360" y="472744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Non-payroll subtotal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378440" y="472744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$470K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452360" y="5074920"/>
            <a:ext cx="4069080" cy="1188720"/>
          </a:xfrm>
          <a:prstGeom prst="rect">
            <a:avLst/>
          </a:prstGeom>
          <a:solidFill>
            <a:srgbClr val="12283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26680" y="5212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annual burn  </a:t>
            </a:r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$1.3M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726680" y="57150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$108K / month · ~18–20 months runway on the seed round.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DIGIMETRICS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Raising US$1.75M to turn an edge into a category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783080"/>
          <a:ext cx="51206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417320" y="3429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$1.75M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417320" y="3977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989320" y="1874520"/>
            <a:ext cx="146304" cy="7132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5"/>
          <p:cNvSpPr/>
          <p:nvPr/>
        </p:nvSpPr>
        <p:spPr>
          <a:xfrm>
            <a:off x="6281928" y="187452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&amp; Engineering</a:t>
            </a:r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40% · $700K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81928" y="222199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roadmap, deepen GEO &amp; AI moat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2715768"/>
            <a:ext cx="146304" cy="7132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8"/>
          <p:cNvSpPr/>
          <p:nvPr/>
        </p:nvSpPr>
        <p:spPr>
          <a:xfrm>
            <a:off x="6281928" y="271576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&amp; Marketing</a:t>
            </a:r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30% · $525K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281928" y="3063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Product-led growth engine &amp; content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89320" y="3557016"/>
            <a:ext cx="146304" cy="713232"/>
          </a:xfrm>
          <a:prstGeom prst="rect">
            <a:avLst/>
          </a:prstGeom>
          <a:solidFill>
            <a:srgbClr val="F4B740"/>
          </a:solidFill>
          <a:ln/>
        </p:spPr>
      </p:sp>
      <p:sp>
        <p:nvSpPr>
          <p:cNvPr id="14" name="Text 11"/>
          <p:cNvSpPr/>
          <p:nvPr/>
        </p:nvSpPr>
        <p:spPr>
          <a:xfrm>
            <a:off x="6281928" y="355701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Infrastructure</a:t>
            </a:r>
            <a:pPr indent="0" marL="0">
              <a:buNone/>
            </a:pPr>
            <a:r>
              <a:rPr lang="en-US" sz="1300" b="1" dirty="0">
                <a:solidFill>
                  <a:srgbClr val="F4B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15% · $262K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281928" y="390448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SERP/backlink data, cloud, LLM credits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989320" y="4398264"/>
            <a:ext cx="146304" cy="713232"/>
          </a:xfrm>
          <a:prstGeom prst="rect">
            <a:avLst/>
          </a:prstGeom>
          <a:solidFill>
            <a:srgbClr val="1C3A57"/>
          </a:solidFill>
          <a:ln/>
        </p:spPr>
      </p:sp>
      <p:sp>
        <p:nvSpPr>
          <p:cNvPr id="17" name="Text 14"/>
          <p:cNvSpPr/>
          <p:nvPr/>
        </p:nvSpPr>
        <p:spPr>
          <a:xfrm>
            <a:off x="6281928" y="4398264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G&amp;A / Operations</a:t>
            </a:r>
            <a:pPr indent="0" marL="0">
              <a:buNone/>
            </a:pPr>
            <a:r>
              <a:rPr lang="en-US" sz="1300" b="1" dirty="0">
                <a:solidFill>
                  <a:srgbClr val="1C3A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10% · $175K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281928" y="474573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Finance, legal, compliance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989320" y="5239512"/>
            <a:ext cx="146304" cy="7132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0" name="Text 17"/>
          <p:cNvSpPr/>
          <p:nvPr/>
        </p:nvSpPr>
        <p:spPr>
          <a:xfrm>
            <a:off x="6281928" y="523951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Contingency</a:t>
            </a:r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5% · $88K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281928" y="558698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&amp; opportunistic hires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DIGIMETRICS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Milestones over the next 18 months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10515600" cy="0"/>
          </a:xfrm>
          <a:prstGeom prst="line">
            <a:avLst/>
          </a:prstGeom>
          <a:noFill/>
          <a:ln w="25400">
            <a:solidFill>
              <a:srgbClr val="1C3A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2350008"/>
            <a:ext cx="237744" cy="237744"/>
          </a:xfrm>
          <a:prstGeom prst="ellipse">
            <a:avLst/>
          </a:prstGeom>
          <a:solidFill>
            <a:srgbClr val="14B8A6"/>
          </a:solidFill>
          <a:ln w="25400">
            <a:solidFill>
              <a:srgbClr val="0A1A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97480"/>
            <a:ext cx="27660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108960"/>
            <a:ext cx="2491740" cy="2286000"/>
          </a:xfrm>
          <a:prstGeom prst="rect">
            <a:avLst/>
          </a:prstGeom>
          <a:solidFill>
            <a:srgbClr val="12283F"/>
          </a:solidFill>
          <a:ln w="12700">
            <a:solidFill>
              <a:srgbClr val="1C3A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108960"/>
            <a:ext cx="2491740" cy="6400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3310128"/>
            <a:ext cx="20894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&amp; foundation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32688" y="3977640"/>
            <a:ext cx="20894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onboarding, billing, free AI-audit lead magnet live. First 100 paying customers.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7852" y="2350008"/>
            <a:ext cx="237744" cy="237744"/>
          </a:xfrm>
          <a:prstGeom prst="ellipse">
            <a:avLst/>
          </a:prstGeom>
          <a:solidFill>
            <a:srgbClr val="14B8A6"/>
          </a:solidFill>
          <a:ln w="25400">
            <a:solidFill>
              <a:srgbClr val="0A1A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6140" y="2697480"/>
            <a:ext cx="27660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 2026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06140" y="3108960"/>
            <a:ext cx="2491740" cy="2286000"/>
          </a:xfrm>
          <a:prstGeom prst="rect">
            <a:avLst/>
          </a:prstGeom>
          <a:solidFill>
            <a:srgbClr val="12283F"/>
          </a:solidFill>
          <a:ln w="12700">
            <a:solidFill>
              <a:srgbClr val="1C3A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06140" y="3108960"/>
            <a:ext cx="2491740" cy="6400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3607308" y="3310128"/>
            <a:ext cx="20894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 moat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07308" y="3977640"/>
            <a:ext cx="20894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GEO suite &amp; AI-mentions benchmarking. Public free-tools growth loop.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62472" y="2350008"/>
            <a:ext cx="237744" cy="237744"/>
          </a:xfrm>
          <a:prstGeom prst="ellipse">
            <a:avLst/>
          </a:prstGeom>
          <a:solidFill>
            <a:srgbClr val="14B8A6"/>
          </a:solidFill>
          <a:ln w="25400">
            <a:solidFill>
              <a:srgbClr val="0A1A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2697480"/>
            <a:ext cx="27660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Q1–Q2 2027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80760" y="3108960"/>
            <a:ext cx="2491740" cy="2286000"/>
          </a:xfrm>
          <a:prstGeom prst="rect">
            <a:avLst/>
          </a:prstGeom>
          <a:solidFill>
            <a:srgbClr val="12283F"/>
          </a:solidFill>
          <a:ln w="12700">
            <a:solidFill>
              <a:srgbClr val="1C3A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3108960"/>
            <a:ext cx="2491740" cy="6400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6281928" y="3310128"/>
            <a:ext cx="20894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depth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81928" y="3977640"/>
            <a:ext cx="20894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Recruitment, TenderAI &amp; PM modules GA. Marketplace integrations. ~$1M ARR.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737092" y="2350008"/>
            <a:ext cx="237744" cy="237744"/>
          </a:xfrm>
          <a:prstGeom prst="ellipse">
            <a:avLst/>
          </a:prstGeom>
          <a:solidFill>
            <a:srgbClr val="14B8A6"/>
          </a:solidFill>
          <a:ln w="25400">
            <a:solidFill>
              <a:srgbClr val="0A1A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55380" y="2697480"/>
            <a:ext cx="27660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Q3–Q4 2027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755380" y="3108960"/>
            <a:ext cx="2491740" cy="2286000"/>
          </a:xfrm>
          <a:prstGeom prst="rect">
            <a:avLst/>
          </a:prstGeom>
          <a:solidFill>
            <a:srgbClr val="12283F"/>
          </a:solidFill>
          <a:ln w="12700">
            <a:solidFill>
              <a:srgbClr val="1C3A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55380" y="3108960"/>
            <a:ext cx="2491740" cy="6400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8956548" y="3310128"/>
            <a:ext cx="20894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 &amp; scale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956548" y="3977640"/>
            <a:ext cx="20894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White-label/reseller programme, API, SSO. Series A readiness at ~$3M ARR.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DIGIMETRICS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Performance Cockpit — live, in one 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F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10908792" cy="310896"/>
          </a:xfrm>
          <a:prstGeom prst="rect">
            <a:avLst/>
          </a:prstGeom>
          <a:solidFill>
            <a:srgbClr val="E9EDF3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883664"/>
            <a:ext cx="100584" cy="100584"/>
          </a:xfrm>
          <a:prstGeom prst="ellipse">
            <a:avLst/>
          </a:prstGeom>
          <a:solidFill>
            <a:srgbClr val="E0655A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883664"/>
            <a:ext cx="100584" cy="100584"/>
          </a:xfrm>
          <a:prstGeom prst="ellipse">
            <a:avLst/>
          </a:prstGeom>
          <a:solidFill>
            <a:srgbClr val="E9B43E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1883664"/>
            <a:ext cx="100584" cy="100584"/>
          </a:xfrm>
          <a:prstGeom prst="ellipse">
            <a:avLst/>
          </a:prstGeom>
          <a:solidFill>
            <a:srgbClr val="57B85E"/>
          </a:solidFill>
          <a:ln/>
        </p:spPr>
      </p:sp>
      <p:sp>
        <p:nvSpPr>
          <p:cNvPr id="9" name="Shape 7"/>
          <p:cNvSpPr/>
          <p:nvPr/>
        </p:nvSpPr>
        <p:spPr>
          <a:xfrm>
            <a:off x="1298448" y="1847088"/>
            <a:ext cx="38404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18379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app.digimetrics.ai/cockpit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40080" y="2093976"/>
            <a:ext cx="10908792" cy="375818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093976"/>
            <a:ext cx="10908792" cy="384048"/>
          </a:xfrm>
          <a:prstGeom prst="rect">
            <a:avLst/>
          </a:prstGeom>
          <a:solidFill>
            <a:srgbClr val="0B57C2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209397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</a:t>
            </a:r>
            <a:pPr indent="0" marL="0">
              <a:buNone/>
            </a:pPr>
            <a:r>
              <a:rPr lang="en-US" sz="1300" b="1" dirty="0">
                <a:solidFill>
                  <a:srgbClr val="9BC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1760" y="2093976"/>
            <a:ext cx="8714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   SMM    GEO    SEM    Others    Cockpit    Admin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04672" y="2596896"/>
            <a:ext cx="5207508" cy="1472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2706624"/>
            <a:ext cx="4293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57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Top Movers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091940" y="27249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 sites checked · 7 days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87552" y="3054096"/>
            <a:ext cx="4841748" cy="566928"/>
          </a:xfrm>
          <a:prstGeom prst="rect">
            <a:avLst/>
          </a:prstGeom>
          <a:solidFill>
            <a:srgbClr val="F4F8FE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24712" y="3127248"/>
            <a:ext cx="30129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MediaOne</a:t>
            </a:r>
            <a:pPr indent="0" marL="0">
              <a:buNone/>
            </a:pPr>
            <a:r>
              <a:rPr lang="en-US" sz="8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May 31 – Jun 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26180" y="31272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5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84 </a:t>
            </a:r>
            <a:pPr algn="r" indent="0" marL="0">
              <a:buNone/>
            </a:pPr>
            <a:r>
              <a:rPr lang="en-US" sz="8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up    </a:t>
            </a:r>
            <a:pPr algn="r" indent="0" marL="0">
              <a:buNone/>
            </a:pPr>
            <a:r>
              <a:rPr lang="en-US" sz="1300" b="1" dirty="0">
                <a:solidFill>
                  <a:srgbClr val="E04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38 </a:t>
            </a:r>
            <a:pPr algn="r" indent="0" marL="0">
              <a:buNone/>
            </a:pPr>
            <a:r>
              <a:rPr lang="en-US" sz="8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down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6772" y="2596896"/>
            <a:ext cx="5207508" cy="1472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9652" y="2706624"/>
            <a:ext cx="4110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57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SEO Campaign Trajectory Tracker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829800" y="27249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594 campaigns</a:t>
            </a:r>
            <a:endParaRPr lang="en-US" sz="8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6286500" y="3008376"/>
          <a:ext cx="1051560" cy="1051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/>
          <p:nvPr/>
        </p:nvSpPr>
        <p:spPr>
          <a:xfrm>
            <a:off x="6286500" y="341985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67%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502652" y="3099816"/>
            <a:ext cx="109728" cy="109728"/>
          </a:xfrm>
          <a:prstGeom prst="ellipse">
            <a:avLst/>
          </a:prstGeom>
          <a:solidFill>
            <a:srgbClr val="15A34A"/>
          </a:solidFill>
          <a:ln/>
        </p:spPr>
      </p:sp>
      <p:sp>
        <p:nvSpPr>
          <p:cNvPr id="27" name="Text 24"/>
          <p:cNvSpPr/>
          <p:nvPr/>
        </p:nvSpPr>
        <p:spPr>
          <a:xfrm>
            <a:off x="7685532" y="3054096"/>
            <a:ext cx="17122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hit target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9397746" y="3099816"/>
            <a:ext cx="109728" cy="109728"/>
          </a:xfrm>
          <a:prstGeom prst="ellipse">
            <a:avLst/>
          </a:prstGeom>
          <a:solidFill>
            <a:srgbClr val="0B57C2"/>
          </a:solidFill>
          <a:ln/>
        </p:spPr>
      </p:sp>
      <p:sp>
        <p:nvSpPr>
          <p:cNvPr id="29" name="Text 26"/>
          <p:cNvSpPr/>
          <p:nvPr/>
        </p:nvSpPr>
        <p:spPr>
          <a:xfrm>
            <a:off x="9580626" y="3054096"/>
            <a:ext cx="17122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on track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502652" y="3557016"/>
            <a:ext cx="109728" cy="109728"/>
          </a:xfrm>
          <a:prstGeom prst="ellipse">
            <a:avLst/>
          </a:prstGeom>
          <a:solidFill>
            <a:srgbClr val="E0483B"/>
          </a:solidFill>
          <a:ln/>
        </p:spPr>
      </p:sp>
      <p:sp>
        <p:nvSpPr>
          <p:cNvPr id="31" name="Text 28"/>
          <p:cNvSpPr/>
          <p:nvPr/>
        </p:nvSpPr>
        <p:spPr>
          <a:xfrm>
            <a:off x="7685532" y="3511296"/>
            <a:ext cx="17122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below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9397746" y="3557016"/>
            <a:ext cx="109728" cy="109728"/>
          </a:xfrm>
          <a:prstGeom prst="ellipse">
            <a:avLst/>
          </a:prstGeom>
          <a:solidFill>
            <a:srgbClr val="6B7A90"/>
          </a:solidFill>
          <a:ln/>
        </p:spPr>
      </p:sp>
      <p:sp>
        <p:nvSpPr>
          <p:cNvPr id="33" name="Text 30"/>
          <p:cNvSpPr/>
          <p:nvPr/>
        </p:nvSpPr>
        <p:spPr>
          <a:xfrm>
            <a:off x="9580626" y="3511296"/>
            <a:ext cx="17122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unclassified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804672" y="4215384"/>
            <a:ext cx="5207508" cy="1472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87552" y="4325112"/>
            <a:ext cx="4293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8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Paid Ads Campaign Intel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3634740" y="43434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SEM campaigns · updated today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987552" y="4672584"/>
            <a:ext cx="1325880" cy="292608"/>
          </a:xfrm>
          <a:prstGeom prst="roundRect">
            <a:avLst>
              <a:gd name="adj" fmla="val 15625"/>
            </a:avLst>
          </a:prstGeom>
          <a:solidFill>
            <a:srgbClr val="F1F5FB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87552" y="467258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Owners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2404872" y="4672584"/>
            <a:ext cx="1325880" cy="292608"/>
          </a:xfrm>
          <a:prstGeom prst="roundRect">
            <a:avLst>
              <a:gd name="adj" fmla="val 15625"/>
            </a:avLst>
          </a:prstGeom>
          <a:solidFill>
            <a:srgbClr val="F1F5FB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404872" y="467258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Platforms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822192" y="4672584"/>
            <a:ext cx="1325880" cy="292608"/>
          </a:xfrm>
          <a:prstGeom prst="roundRect">
            <a:avLst>
              <a:gd name="adj" fmla="val 15625"/>
            </a:avLst>
          </a:prstGeom>
          <a:solidFill>
            <a:srgbClr val="F1F5FB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822192" y="467258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Statuses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987552" y="5084064"/>
            <a:ext cx="48417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of 31 campaigns shown · linked to keyword rankings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176772" y="4215384"/>
            <a:ext cx="5207508" cy="1472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359652" y="4325112"/>
            <a:ext cx="48417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57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Connected data sources</a:t>
            </a:r>
            <a:endParaRPr 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6359652" y="4690872"/>
            <a:ext cx="201168" cy="20116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47" name="Text 44"/>
          <p:cNvSpPr/>
          <p:nvPr/>
        </p:nvSpPr>
        <p:spPr>
          <a:xfrm>
            <a:off x="6652260" y="4672584"/>
            <a:ext cx="20551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8780526" y="4690872"/>
            <a:ext cx="201168" cy="201168"/>
          </a:xfrm>
          <a:prstGeom prst="ellipse">
            <a:avLst/>
          </a:prstGeom>
          <a:solidFill>
            <a:srgbClr val="2E7CF6"/>
          </a:solidFill>
          <a:ln/>
        </p:spPr>
      </p:sp>
      <p:sp>
        <p:nvSpPr>
          <p:cNvPr id="49" name="Text 46"/>
          <p:cNvSpPr/>
          <p:nvPr/>
        </p:nvSpPr>
        <p:spPr>
          <a:xfrm>
            <a:off x="9073134" y="4672584"/>
            <a:ext cx="20551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Console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6359652" y="5074920"/>
            <a:ext cx="201168" cy="201168"/>
          </a:xfrm>
          <a:prstGeom prst="ellipse">
            <a:avLst/>
          </a:prstGeom>
          <a:solidFill>
            <a:srgbClr val="E8453C"/>
          </a:solidFill>
          <a:ln/>
        </p:spPr>
      </p:sp>
      <p:sp>
        <p:nvSpPr>
          <p:cNvPr id="51" name="Text 48"/>
          <p:cNvSpPr/>
          <p:nvPr/>
        </p:nvSpPr>
        <p:spPr>
          <a:xfrm>
            <a:off x="6652260" y="5056632"/>
            <a:ext cx="20551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8780526" y="5074920"/>
            <a:ext cx="201168" cy="201168"/>
          </a:xfrm>
          <a:prstGeom prst="ellipse">
            <a:avLst/>
          </a:prstGeom>
          <a:solidFill>
            <a:srgbClr val="1877F2"/>
          </a:solidFill>
          <a:ln/>
        </p:spPr>
      </p:sp>
      <p:sp>
        <p:nvSpPr>
          <p:cNvPr id="53" name="Text 50"/>
          <p:cNvSpPr/>
          <p:nvPr/>
        </p:nvSpPr>
        <p:spPr>
          <a:xfrm>
            <a:off x="9073134" y="5056632"/>
            <a:ext cx="20551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</a:t>
            </a:r>
            <a:endParaRPr lang="en-US" sz="950" dirty="0"/>
          </a:p>
        </p:txBody>
      </p:sp>
      <p:sp>
        <p:nvSpPr>
          <p:cNvPr id="54" name="Text 51"/>
          <p:cNvSpPr/>
          <p:nvPr/>
        </p:nvSpPr>
        <p:spPr>
          <a:xfrm>
            <a:off x="64008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Cross-channel attribution, no tab-switching</a:t>
            </a:r>
            <a:endParaRPr lang="en-US" sz="1250" dirty="0"/>
          </a:p>
        </p:txBody>
      </p:sp>
      <p:sp>
        <p:nvSpPr>
          <p:cNvPr id="55" name="Text 52"/>
          <p:cNvSpPr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DIGIMETRICS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capabilities rivals don't have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F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5349240" cy="310896"/>
          </a:xfrm>
          <a:prstGeom prst="rect">
            <a:avLst/>
          </a:prstGeom>
          <a:solidFill>
            <a:srgbClr val="E9EDF3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883664"/>
            <a:ext cx="100584" cy="100584"/>
          </a:xfrm>
          <a:prstGeom prst="ellipse">
            <a:avLst/>
          </a:prstGeom>
          <a:solidFill>
            <a:srgbClr val="E0655A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883664"/>
            <a:ext cx="100584" cy="100584"/>
          </a:xfrm>
          <a:prstGeom prst="ellipse">
            <a:avLst/>
          </a:prstGeom>
          <a:solidFill>
            <a:srgbClr val="E9B43E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1883664"/>
            <a:ext cx="100584" cy="100584"/>
          </a:xfrm>
          <a:prstGeom prst="ellipse">
            <a:avLst/>
          </a:prstGeom>
          <a:solidFill>
            <a:srgbClr val="57B85E"/>
          </a:solidFill>
          <a:ln/>
        </p:spPr>
      </p:sp>
      <p:sp>
        <p:nvSpPr>
          <p:cNvPr id="9" name="Shape 7"/>
          <p:cNvSpPr/>
          <p:nvPr/>
        </p:nvSpPr>
        <p:spPr>
          <a:xfrm>
            <a:off x="1298448" y="1847088"/>
            <a:ext cx="38404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18379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app.digimetrics.ai/geo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40080" y="2093976"/>
            <a:ext cx="5349240" cy="371246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093976"/>
            <a:ext cx="5349240" cy="384048"/>
          </a:xfrm>
          <a:prstGeom prst="rect">
            <a:avLst/>
          </a:prstGeom>
          <a:solidFill>
            <a:srgbClr val="0B57C2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209397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</a:t>
            </a:r>
            <a:pPr indent="0" marL="0">
              <a:buNone/>
            </a:pPr>
            <a:r>
              <a:rPr lang="en-US" sz="1300" b="1" dirty="0">
                <a:solidFill>
                  <a:srgbClr val="9BC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1760" y="209397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   SMM    GEO    SEM    Others    Cockpit    Admin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68680" y="259689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7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Discovery Audit — GEO Score</a:t>
            </a:r>
            <a:endParaRPr lang="en-US" sz="1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914400" y="2962656"/>
          <a:ext cx="137160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914400" y="346557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14400" y="387705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/100 GEO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468880" y="30083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recognition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2468880" y="3227832"/>
            <a:ext cx="3108960" cy="1097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8"/>
          <p:cNvSpPr/>
          <p:nvPr/>
        </p:nvSpPr>
        <p:spPr>
          <a:xfrm>
            <a:off x="2468880" y="3227832"/>
            <a:ext cx="2549347" cy="1097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19"/>
          <p:cNvSpPr/>
          <p:nvPr/>
        </p:nvSpPr>
        <p:spPr>
          <a:xfrm>
            <a:off x="2468880" y="34198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structure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2468880" y="3639312"/>
            <a:ext cx="3108960" cy="1097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Shape 21"/>
          <p:cNvSpPr/>
          <p:nvPr/>
        </p:nvSpPr>
        <p:spPr>
          <a:xfrm>
            <a:off x="2468880" y="3639312"/>
            <a:ext cx="2300630" cy="1097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5" name="Text 22"/>
          <p:cNvSpPr/>
          <p:nvPr/>
        </p:nvSpPr>
        <p:spPr>
          <a:xfrm>
            <a:off x="2468880" y="38313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coverage</a:t>
            </a:r>
            <a:endParaRPr lang="en-US" sz="880" dirty="0"/>
          </a:p>
        </p:txBody>
      </p:sp>
      <p:sp>
        <p:nvSpPr>
          <p:cNvPr id="26" name="Shape 23"/>
          <p:cNvSpPr/>
          <p:nvPr/>
        </p:nvSpPr>
        <p:spPr>
          <a:xfrm>
            <a:off x="2468880" y="4050792"/>
            <a:ext cx="3108960" cy="1097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Shape 24"/>
          <p:cNvSpPr/>
          <p:nvPr/>
        </p:nvSpPr>
        <p:spPr>
          <a:xfrm>
            <a:off x="2468880" y="4050792"/>
            <a:ext cx="1896466" cy="1097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8" name="Text 25"/>
          <p:cNvSpPr/>
          <p:nvPr/>
        </p:nvSpPr>
        <p:spPr>
          <a:xfrm>
            <a:off x="2468880" y="42428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Citation-worthiness</a:t>
            </a:r>
            <a:endParaRPr lang="en-US" sz="880" dirty="0"/>
          </a:p>
        </p:txBody>
      </p:sp>
      <p:sp>
        <p:nvSpPr>
          <p:cNvPr id="29" name="Shape 26"/>
          <p:cNvSpPr/>
          <p:nvPr/>
        </p:nvSpPr>
        <p:spPr>
          <a:xfrm>
            <a:off x="2468880" y="4462272"/>
            <a:ext cx="3108960" cy="1097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Shape 27"/>
          <p:cNvSpPr/>
          <p:nvPr/>
        </p:nvSpPr>
        <p:spPr>
          <a:xfrm>
            <a:off x="2468880" y="4462272"/>
            <a:ext cx="2176272" cy="1097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1" name="Text 28"/>
          <p:cNvSpPr/>
          <p:nvPr/>
        </p:nvSpPr>
        <p:spPr>
          <a:xfrm>
            <a:off x="914400" y="488289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Mentions tracked: ChatGPT · Perplexity · AI Overviews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199632" y="1783080"/>
            <a:ext cx="53492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F">
                <a:alpha val="16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199632" y="1783080"/>
            <a:ext cx="5349240" cy="310896"/>
          </a:xfrm>
          <a:prstGeom prst="rect">
            <a:avLst/>
          </a:prstGeom>
          <a:solidFill>
            <a:srgbClr val="E9EDF3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345936" y="1883664"/>
            <a:ext cx="100584" cy="100584"/>
          </a:xfrm>
          <a:prstGeom prst="ellipse">
            <a:avLst/>
          </a:prstGeom>
          <a:solidFill>
            <a:srgbClr val="E0655A"/>
          </a:solidFill>
          <a:ln/>
        </p:spPr>
      </p:sp>
      <p:sp>
        <p:nvSpPr>
          <p:cNvPr id="35" name="Shape 32"/>
          <p:cNvSpPr/>
          <p:nvPr/>
        </p:nvSpPr>
        <p:spPr>
          <a:xfrm>
            <a:off x="6510528" y="1883664"/>
            <a:ext cx="100584" cy="100584"/>
          </a:xfrm>
          <a:prstGeom prst="ellipse">
            <a:avLst/>
          </a:prstGeom>
          <a:solidFill>
            <a:srgbClr val="E9B43E"/>
          </a:solidFill>
          <a:ln/>
        </p:spPr>
      </p:sp>
      <p:sp>
        <p:nvSpPr>
          <p:cNvPr id="36" name="Shape 33"/>
          <p:cNvSpPr/>
          <p:nvPr/>
        </p:nvSpPr>
        <p:spPr>
          <a:xfrm>
            <a:off x="6675120" y="1883664"/>
            <a:ext cx="100584" cy="100584"/>
          </a:xfrm>
          <a:prstGeom prst="ellipse">
            <a:avLst/>
          </a:prstGeom>
          <a:solidFill>
            <a:srgbClr val="57B85E"/>
          </a:solidFill>
          <a:ln/>
        </p:spPr>
      </p:sp>
      <p:sp>
        <p:nvSpPr>
          <p:cNvPr id="37" name="Shape 34"/>
          <p:cNvSpPr/>
          <p:nvPr/>
        </p:nvSpPr>
        <p:spPr>
          <a:xfrm>
            <a:off x="6858000" y="1847088"/>
            <a:ext cx="38404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76872" y="18379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client-portal · AI chatbot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199632" y="2093976"/>
            <a:ext cx="5349240" cy="3712464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0" name="Shape 37"/>
          <p:cNvSpPr/>
          <p:nvPr/>
        </p:nvSpPr>
        <p:spPr>
          <a:xfrm>
            <a:off x="6199632" y="2093976"/>
            <a:ext cx="5349240" cy="457200"/>
          </a:xfrm>
          <a:prstGeom prst="rect">
            <a:avLst/>
          </a:prstGeom>
          <a:solidFill>
            <a:srgbClr val="0E9E6E"/>
          </a:solidFill>
          <a:ln/>
        </p:spPr>
      </p:sp>
      <p:sp>
        <p:nvSpPr>
          <p:cNvPr id="41" name="Text 38"/>
          <p:cNvSpPr/>
          <p:nvPr/>
        </p:nvSpPr>
        <p:spPr>
          <a:xfrm>
            <a:off x="6428232" y="209397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Digimetrics Assistant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6428232" y="2734056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565392" y="2752344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Hi! Ask me about our SEO &amp; GEO services.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7936992" y="3419856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DCF5EA"/>
          </a:solidFill>
          <a:ln w="9525">
            <a:solidFill>
              <a:srgbClr val="BFE8D6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074152" y="342900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until I rank on page 1?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6428232" y="4014216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565392" y="4050792"/>
            <a:ext cx="3749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competitive keywords, typically 4–6 months. I can pull your domain's time-to-rank estimate now.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6428232" y="5065776"/>
            <a:ext cx="1325880" cy="292608"/>
          </a:xfrm>
          <a:prstGeom prst="roundRect">
            <a:avLst>
              <a:gd name="adj" fmla="val 31250"/>
            </a:avLst>
          </a:prstGeom>
          <a:solidFill>
            <a:srgbClr val="E6F6EF"/>
          </a:solidFill>
          <a:ln w="9525">
            <a:solidFill>
              <a:srgbClr val="BFE8D6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428232" y="506577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quote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7845552" y="5065776"/>
            <a:ext cx="1325880" cy="292608"/>
          </a:xfrm>
          <a:prstGeom prst="roundRect">
            <a:avLst>
              <a:gd name="adj" fmla="val 31250"/>
            </a:avLst>
          </a:prstGeom>
          <a:solidFill>
            <a:srgbClr val="E6F6EF"/>
          </a:solidFill>
          <a:ln w="9525">
            <a:solidFill>
              <a:srgbClr val="BFE8D6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845552" y="506577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an audit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visibility scoring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and a  </a:t>
            </a:r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client chatbot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neither shipped by Semrush, Ahrefs or Hootsuite.</a:t>
            </a:r>
            <a:endParaRPr lang="en-US" sz="1250" dirty="0"/>
          </a:p>
        </p:txBody>
      </p:sp>
      <p:sp>
        <p:nvSpPr>
          <p:cNvPr id="53" name="Text 50"/>
          <p:cNvSpPr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DIGIMETRICS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complete SEO workbench in one module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5836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F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6583680" cy="310896"/>
          </a:xfrm>
          <a:prstGeom prst="rect">
            <a:avLst/>
          </a:prstGeom>
          <a:solidFill>
            <a:srgbClr val="E9EDF3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883664"/>
            <a:ext cx="100584" cy="100584"/>
          </a:xfrm>
          <a:prstGeom prst="ellipse">
            <a:avLst/>
          </a:prstGeom>
          <a:solidFill>
            <a:srgbClr val="E0655A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883664"/>
            <a:ext cx="100584" cy="100584"/>
          </a:xfrm>
          <a:prstGeom prst="ellipse">
            <a:avLst/>
          </a:prstGeom>
          <a:solidFill>
            <a:srgbClr val="E9B43E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1883664"/>
            <a:ext cx="100584" cy="100584"/>
          </a:xfrm>
          <a:prstGeom prst="ellipse">
            <a:avLst/>
          </a:prstGeom>
          <a:solidFill>
            <a:srgbClr val="57B85E"/>
          </a:solidFill>
          <a:ln/>
        </p:spPr>
      </p:sp>
      <p:sp>
        <p:nvSpPr>
          <p:cNvPr id="9" name="Shape 7"/>
          <p:cNvSpPr/>
          <p:nvPr/>
        </p:nvSpPr>
        <p:spPr>
          <a:xfrm>
            <a:off x="1298448" y="1847088"/>
            <a:ext cx="38404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18379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app.digimetrics.ai/seo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40080" y="2093976"/>
            <a:ext cx="6583680" cy="375818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093976"/>
            <a:ext cx="6583680" cy="384048"/>
          </a:xfrm>
          <a:prstGeom prst="rect">
            <a:avLst/>
          </a:prstGeom>
          <a:solidFill>
            <a:srgbClr val="0B57C2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209397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</a:t>
            </a:r>
            <a:pPr indent="0" marL="0">
              <a:buNone/>
            </a:pPr>
            <a:r>
              <a:rPr lang="en-US" sz="1300" b="1" dirty="0">
                <a:solidFill>
                  <a:srgbClr val="9BC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1760" y="209397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   SMM    GEO    SEM    Others    Cockpit    Admin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22960" y="2596896"/>
            <a:ext cx="6217920" cy="384048"/>
          </a:xfrm>
          <a:prstGeom prst="rect">
            <a:avLst/>
          </a:prstGeom>
          <a:solidFill>
            <a:srgbClr val="E8F1FD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2596896"/>
            <a:ext cx="292608" cy="384048"/>
          </a:xfrm>
          <a:prstGeom prst="rect">
            <a:avLst/>
          </a:prstGeom>
          <a:solidFill>
            <a:srgbClr val="0B57C2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596896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59689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 Optimisation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2960" y="3035808"/>
            <a:ext cx="62179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035808"/>
            <a:ext cx="292608" cy="384048"/>
          </a:xfrm>
          <a:prstGeom prst="rect">
            <a:avLst/>
          </a:prstGeom>
          <a:solidFill>
            <a:srgbClr val="0B57C2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035808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03580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Optimiser / Checker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2960" y="3474720"/>
            <a:ext cx="62179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3474720"/>
            <a:ext cx="292608" cy="384048"/>
          </a:xfrm>
          <a:prstGeom prst="rect">
            <a:avLst/>
          </a:prstGeom>
          <a:solidFill>
            <a:srgbClr val="0B57C2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474720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34440" y="347472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Mapping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22960" y="3913632"/>
            <a:ext cx="62179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" y="3913632"/>
            <a:ext cx="292608" cy="384048"/>
          </a:xfrm>
          <a:prstGeom prst="rect">
            <a:avLst/>
          </a:prstGeom>
          <a:solidFill>
            <a:srgbClr val="0B57C2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3913632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34440" y="391363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Technical &amp; Domain Analysis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22960" y="4352544"/>
            <a:ext cx="62179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" y="4352544"/>
            <a:ext cx="292608" cy="384048"/>
          </a:xfrm>
          <a:prstGeom prst="rect">
            <a:avLst/>
          </a:prstGeom>
          <a:solidFill>
            <a:srgbClr val="0B57C2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4352544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234440" y="435254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Checker (up to 1,200 keywords)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22960" y="4791456"/>
            <a:ext cx="62179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" y="4791456"/>
            <a:ext cx="292608" cy="384048"/>
          </a:xfrm>
          <a:prstGeom prst="rect">
            <a:avLst/>
          </a:prstGeom>
          <a:solidFill>
            <a:srgbClr val="0B57C2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4791456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234440" y="479145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Backlinks Manager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22960" y="5230368"/>
            <a:ext cx="62179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2960" y="5230368"/>
            <a:ext cx="292608" cy="384048"/>
          </a:xfrm>
          <a:prstGeom prst="rect">
            <a:avLst/>
          </a:prstGeom>
          <a:solidFill>
            <a:srgbClr val="0B57C2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" y="5230368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234440" y="523036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Generator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543800" y="182880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F">
                <a:alpha val="16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543800" y="1828800"/>
            <a:ext cx="91440" cy="9144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5" name="Text 43"/>
          <p:cNvSpPr/>
          <p:nvPr/>
        </p:nvSpPr>
        <p:spPr>
          <a:xfrm>
            <a:off x="7799832" y="193852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Keyword Analysis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799832" y="224942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Volume, difficulty, SERP, long-tail &amp; question keywords — grouped and URL-mapped.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543800" y="283464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F">
                <a:alpha val="16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543800" y="2834640"/>
            <a:ext cx="91440" cy="9144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9" name="Text 47"/>
          <p:cNvSpPr/>
          <p:nvPr/>
        </p:nvSpPr>
        <p:spPr>
          <a:xfrm>
            <a:off x="7799832" y="294436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Audit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799832" y="325526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Canonicals, duplicate meta, redirect chains, broken links — severity-ranked.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543800" y="384048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F">
                <a:alpha val="16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543800" y="3840480"/>
            <a:ext cx="91440" cy="9144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3" name="Text 51"/>
          <p:cNvSpPr/>
          <p:nvPr/>
        </p:nvSpPr>
        <p:spPr>
          <a:xfrm>
            <a:off x="7799832" y="395020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 Checker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7799832" y="426110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tracking up to 1,200 keywords with history and SERP features.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543800" y="484632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F">
                <a:alpha val="16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543800" y="4846320"/>
            <a:ext cx="91440" cy="9144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7" name="Text 55"/>
          <p:cNvSpPr/>
          <p:nvPr/>
        </p:nvSpPr>
        <p:spPr>
          <a:xfrm>
            <a:off x="7799832" y="495604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Backlinks Manager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7799832" y="526694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Campaigns, vendors, bulk validation and cost control.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4008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domain input — strategy, audit, optimise and track.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DIGIMETRICS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working product — not a concept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69494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F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74520"/>
            <a:ext cx="6949440" cy="310896"/>
          </a:xfrm>
          <a:prstGeom prst="rect">
            <a:avLst/>
          </a:prstGeom>
          <a:solidFill>
            <a:srgbClr val="E9EDF3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975104"/>
            <a:ext cx="100584" cy="100584"/>
          </a:xfrm>
          <a:prstGeom prst="ellipse">
            <a:avLst/>
          </a:prstGeom>
          <a:solidFill>
            <a:srgbClr val="E0655A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75104"/>
            <a:ext cx="100584" cy="100584"/>
          </a:xfrm>
          <a:prstGeom prst="ellipse">
            <a:avLst/>
          </a:prstGeom>
          <a:solidFill>
            <a:srgbClr val="E9B43E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1975104"/>
            <a:ext cx="100584" cy="100584"/>
          </a:xfrm>
          <a:prstGeom prst="ellipse">
            <a:avLst/>
          </a:prstGeom>
          <a:solidFill>
            <a:srgbClr val="57B85E"/>
          </a:solidFill>
          <a:ln/>
        </p:spPr>
      </p:sp>
      <p:sp>
        <p:nvSpPr>
          <p:cNvPr id="9" name="Shape 7"/>
          <p:cNvSpPr/>
          <p:nvPr/>
        </p:nvSpPr>
        <p:spPr>
          <a:xfrm>
            <a:off x="1298448" y="1938528"/>
            <a:ext cx="38404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19293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app.digimetrics.ai — product walkthrough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40080" y="2185416"/>
            <a:ext cx="6949440" cy="3529584"/>
          </a:xfrm>
          <a:prstGeom prst="rect">
            <a:avLst/>
          </a:prstGeom>
          <a:solidFill>
            <a:srgbClr val="0E2236"/>
          </a:solidFill>
          <a:ln/>
        </p:spPr>
      </p:sp>
      <p:sp>
        <p:nvSpPr>
          <p:cNvPr id="12" name="Shape 10"/>
          <p:cNvSpPr/>
          <p:nvPr/>
        </p:nvSpPr>
        <p:spPr>
          <a:xfrm>
            <a:off x="3611880" y="3447288"/>
            <a:ext cx="1005840" cy="100584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114300" dist="38100" dir="5400000">
              <a:srgbClr val="0A1A2F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0" y="3447288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0080" y="49377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3-minute product walkthrough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27608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this frame with your screen recording:  Insert ▸ Video ▸ This Device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63840" y="1965960"/>
            <a:ext cx="3703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authenticated SaaS at app.digimetrics.ai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client data flowing from GA4, GSC, Google &amp; Meta Ads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tools already in daily agency use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in production — actively iterated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863840" y="4617720"/>
            <a:ext cx="3703320" cy="1097280"/>
          </a:xfrm>
          <a:prstGeom prst="rect">
            <a:avLst/>
          </a:prstGeom>
          <a:solidFill>
            <a:srgbClr val="12283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4754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 a live demo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138160" y="513892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digimetrics.ai  ·  clarinet.kenneth@gmail.com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DIGIMETRICS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822960"/>
            <a:ext cx="2926080" cy="3055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103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marketing stack is consolidating.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777240" y="28803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i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We're building the platform it consolidates into — AI-native, GEO-first, and already real.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68680" y="388620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capabilities shipped across 11 domains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category-defining lead in Generative Engine Optimisation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75% cost saving vs. a multi-tool stack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path to ~$10M ARR on a lean, 11-person team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955280" y="3840480"/>
            <a:ext cx="3566160" cy="2103120"/>
          </a:xfrm>
          <a:prstGeom prst="rect">
            <a:avLst/>
          </a:prstGeom>
          <a:solidFill>
            <a:srgbClr val="12283F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F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0" y="4069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raising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0" y="43891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US$1.75M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229600" y="5166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· ~18–20 months runway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0" y="5532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clarinet.kenneth@gmail.com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prepared for investor &amp; stakeholder review ·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Digimetrics — Investor Pitch Deck</dc:title>
  <dc:subject>PptxGenJS Presentation</dc:subject>
  <dc:creator>Digimetrics</dc:creator>
  <cp:lastModifiedBy>Digimetrics</cp:lastModifiedBy>
  <cp:revision>1</cp:revision>
  <dcterms:created xsi:type="dcterms:W3CDTF">2026-06-07T13:04:32Z</dcterms:created>
  <dcterms:modified xsi:type="dcterms:W3CDTF">2026-06-07T13:04:32Z</dcterms:modified>
</cp:coreProperties>
</file>